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3" r:id="rId5"/>
    <p:sldId id="261" r:id="rId6"/>
    <p:sldId id="262" r:id="rId7"/>
    <p:sldId id="260" r:id="rId8"/>
    <p:sldId id="264" r:id="rId9"/>
    <p:sldId id="265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749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8417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BFB54C-3395-192F-F6AA-B02867A7DA1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90500" y="4800600"/>
            <a:ext cx="4508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Internal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top-down-racer-02.vercel.app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top-down-racer-02.vercel.app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400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BEST-IN-CLASS SDLC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BY AI - AUTONOMOUSLY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DIRECTED BY HUMANS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2711451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8899AA"/>
                </a:solidFill>
                <a:latin typeface="Arial" pitchFamily="34" charset="0"/>
                <a:cs typeface="Arial" pitchFamily="34" charset="-120"/>
              </a:rPr>
              <a:t>AI SDLC Autonomy isn't the future. It's now 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343789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 racing game + neural network AI opponent built through autonomous AI SDLC.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Specification, architecture, planning, code, testing, review, defect prevention, deployment.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Briggsy  •  March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BUILT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965960" cy="228600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965960" cy="54864"/>
          </a:xfrm>
          <a:prstGeom prst="rect">
            <a:avLst/>
          </a:prstGeom>
          <a:solidFill>
            <a:srgbClr val="00D4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0972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Racing Game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tracks, full sound, particles,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menus, HUD, pause, replays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06040" y="914400"/>
            <a:ext cx="1965960" cy="228600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606040" y="914400"/>
            <a:ext cx="1965960" cy="54864"/>
          </a:xfrm>
          <a:prstGeom prst="rect">
            <a:avLst/>
          </a:prstGeom>
          <a:solidFill>
            <a:srgbClr val="00FF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0" y="10972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 AI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0" y="1554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Self-taught driving via RL — zero human training data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1965960" cy="228600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54880" y="914400"/>
            <a:ext cx="1965960" cy="54864"/>
          </a:xfrm>
          <a:prstGeom prst="rect">
            <a:avLst/>
          </a:prstGeom>
          <a:solidFill>
            <a:srgbClr val="FFB8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92040" y="10972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Deployed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92040" y="1554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ONNX inference at 60fps,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static, zero server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03720" y="914400"/>
            <a:ext cx="1965960" cy="228600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903720" y="914400"/>
            <a:ext cx="1965960" cy="54864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040880" y="10972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vs Human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40880" y="1554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Race against your own creation.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Head-to-head with grace period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566160"/>
            <a:ext cx="7680960" cy="502920"/>
          </a:xfrm>
          <a:prstGeom prst="roundRect">
            <a:avLst>
              <a:gd name="adj" fmla="val 14545"/>
            </a:avLst>
          </a:prstGeom>
          <a:solidFill>
            <a:srgbClr val="0D1B2A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14400" y="36118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IT LIVE  →  </a:t>
            </a:r>
            <a:r>
              <a:rPr lang="en-US" sz="1200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https://top-down-racer-02.vercel.app/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human never writes code. The human makes decisions.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FACTS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4572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4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44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of hand-written game code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line authored by Claude Code.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human architectural direction.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copilot. Not autocomplete. Autonomous development.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0" y="914400"/>
            <a:ext cx="3017520" cy="59436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852160" y="96012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 of 6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0" y="96012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completed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0" y="1627632"/>
            <a:ext cx="3017520" cy="59436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852160" y="1673352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189+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315200" y="167335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commits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0" y="2340864"/>
            <a:ext cx="3017520" cy="59436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852160" y="2386584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389+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315200" y="238658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3054096"/>
            <a:ext cx="3017520" cy="59436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852160" y="3099816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315200" y="3099816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days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0" y="3767328"/>
            <a:ext cx="3017520" cy="59436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852160" y="3813048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10,497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0" y="3813048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of code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BEST-IN-CLASS SDLC. RUN BY AI.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1554480" cy="64008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1554480" cy="45720"/>
          </a:xfrm>
          <a:prstGeom prst="rect">
            <a:avLst/>
          </a:prstGeom>
          <a:solidFill>
            <a:srgbClr val="00D4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SPECIFY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91440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148840" y="914400"/>
            <a:ext cx="1554480" cy="64008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148840" y="914400"/>
            <a:ext cx="1554480" cy="45720"/>
          </a:xfrm>
          <a:prstGeom prst="rect">
            <a:avLst/>
          </a:prstGeom>
          <a:solidFill>
            <a:srgbClr val="00FF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148840" y="960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PLAN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703320" y="91440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931920" y="914400"/>
            <a:ext cx="1554480" cy="64008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931920" y="914400"/>
            <a:ext cx="1554480" cy="45720"/>
          </a:xfrm>
          <a:prstGeom prst="rect">
            <a:avLst/>
          </a:prstGeom>
          <a:solidFill>
            <a:srgbClr val="FFB8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931920" y="960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DEEPEN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0" y="91440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715000" y="914400"/>
            <a:ext cx="1554480" cy="64008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715000" y="914400"/>
            <a:ext cx="1554480" cy="4572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715000" y="960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EXECUTE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69480" y="91440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498080" y="914400"/>
            <a:ext cx="1554480" cy="64008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498080" y="914400"/>
            <a:ext cx="1554480" cy="45720"/>
          </a:xfrm>
          <a:prstGeom prst="rect">
            <a:avLst/>
          </a:prstGeom>
          <a:solidFill>
            <a:srgbClr val="00D4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498080" y="960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VERIFY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182880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14400" y="18288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286000" y="18288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War-game every decision. Document before building.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233172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14400" y="23317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86000" y="233172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into atomic tasks. 50% context window max.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" y="283464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14400" y="28346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286000" y="28346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10-12 research agents review before execution.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31520" y="333756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14400" y="33375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286000" y="33375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subagents per task. Clean 200K context.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1520" y="384048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14400" y="38404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286000" y="38404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Goal-backward testing. Architecture review.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4526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rot eliminated. Task 189 runs at the same quality as Task 1.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31520" y="48463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just autonomous development. Best-in-class SDLC — with the evidence to prove it.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HELD CLEAN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Two-layer decoupled architecture verified across 189+ commits and 6 phases.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3474720" cy="256032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3474720" cy="54864"/>
          </a:xfrm>
          <a:prstGeom prst="rect">
            <a:avLst/>
          </a:prstGeom>
          <a:solidFill>
            <a:srgbClr val="00D4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3258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 ENGINE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373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TypeScript logic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208483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rendering imports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" y="243230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headless in Node.js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2779776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13K+ ticks/sec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97280" y="31272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physics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06240" y="20116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→</a:t>
            </a:r>
          </a:p>
          <a:p>
            <a:pPr algn="ctr"/>
            <a:r>
              <a:rPr lang="en-US" sz="1100" i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state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0" y="1188720"/>
            <a:ext cx="3383280" cy="256032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303520" y="1188720"/>
            <a:ext cx="3383280" cy="54864"/>
          </a:xfrm>
          <a:prstGeom prst="rect">
            <a:avLst/>
          </a:prstGeom>
          <a:solidFill>
            <a:srgbClr val="00FF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303520" y="13258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PIXIJS RENDERER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669280" y="17373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layer only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0" y="208483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touches game logic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0" y="243230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WebGL 2D rendering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0" y="2779776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engine state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0" y="31272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Browser-only component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429387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*Boundary violation caught by architecture-strategist agent before Phase 3.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review, not manual inspection.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TAUGHT ITSELF TO DRIVE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5029200" cy="59436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822960"/>
            <a:ext cx="54864" cy="594360"/>
          </a:xfrm>
          <a:prstGeom prst="rect">
            <a:avLst/>
          </a:prstGeom>
          <a:solidFill>
            <a:srgbClr val="F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82296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steps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286000" y="82296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flailing. Drives into walls.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1508760"/>
            <a:ext cx="5029200" cy="59436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1508760"/>
            <a:ext cx="54864" cy="594360"/>
          </a:xfrm>
          <a:prstGeom prst="rect">
            <a:avLst/>
          </a:prstGeom>
          <a:solidFill>
            <a:srgbClr val="FFB8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150876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30K steps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286000" y="150876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Discovers forward motion. Stays on road sometimes.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194560"/>
            <a:ext cx="5029200" cy="59436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31520" y="2194560"/>
            <a:ext cx="54864" cy="594360"/>
          </a:xfrm>
          <a:prstGeom prst="rect">
            <a:avLst/>
          </a:prstGeom>
          <a:solidFill>
            <a:srgbClr val="00FF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05840" y="219456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60K steps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286000" y="219456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laps. Learns braking points.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880360"/>
            <a:ext cx="5029200" cy="59436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1520" y="2880360"/>
            <a:ext cx="54864" cy="594360"/>
          </a:xfrm>
          <a:prstGeom prst="rect">
            <a:avLst/>
          </a:prstGeom>
          <a:solidFill>
            <a:srgbClr val="00D4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05840" y="288036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 steps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288036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Rips the hardest track. Zero wall contact.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43600" y="822960"/>
            <a:ext cx="2743200" cy="50292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035040" y="82296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858000" y="8229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Tuning iterations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0" y="1371600"/>
            <a:ext cx="2743200" cy="50292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035040" y="137160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FF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858000" y="13716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contacts at convergence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43600" y="1920240"/>
            <a:ext cx="2743200" cy="50292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035040" y="1920240"/>
            <a:ext cx="91821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0.994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58000" y="192024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Explained variance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943600" y="2468880"/>
            <a:ext cx="2743200" cy="50292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035040" y="24688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858000" y="24688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 dimensions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3017520"/>
            <a:ext cx="2743200" cy="50292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035040" y="301752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858000" y="301752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outputs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 PACKAGE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7-document evidence package proving SDLC rigor across the full lifecycle. Not vibes — verification.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45720" cy="420624"/>
          </a:xfrm>
          <a:prstGeom prst="rect">
            <a:avLst/>
          </a:prstGeom>
          <a:solidFill>
            <a:srgbClr val="00D4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0972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0972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0" y="10972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project overview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31520" y="1554480"/>
            <a:ext cx="45720" cy="420624"/>
          </a:xfrm>
          <a:prstGeom prst="rect">
            <a:avLst/>
          </a:prstGeom>
          <a:solidFill>
            <a:srgbClr val="00FF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15544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FF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5544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Evidence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89120" y="15544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boundary violations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20116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1520" y="2011680"/>
            <a:ext cx="45720" cy="420624"/>
          </a:xfrm>
          <a:prstGeom prst="rect">
            <a:avLst/>
          </a:prstGeom>
          <a:solidFill>
            <a:srgbClr val="FFB8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14400" y="20116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20116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Traceability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0" y="20116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 traced items, 100% coverage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24688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31520" y="2468880"/>
            <a:ext cx="45720" cy="420624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14400" y="24688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78B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71600" y="24688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&amp; Defect Prevention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389120" y="24688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389 tests, 15/15 catches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" y="29260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31520" y="2926080"/>
            <a:ext cx="45720" cy="420624"/>
          </a:xfrm>
          <a:prstGeom prst="rect">
            <a:avLst/>
          </a:prstGeom>
          <a:solidFill>
            <a:srgbClr val="00D4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14400" y="29260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71600" y="29260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Quality Analysis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389120" y="29260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circular deps, strict TS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31520" y="33832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31520" y="3383280"/>
            <a:ext cx="45720" cy="420624"/>
          </a:xfrm>
          <a:prstGeom prst="rect">
            <a:avLst/>
          </a:prstGeom>
          <a:solidFill>
            <a:srgbClr val="00FF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14400" y="33832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FF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71600" y="33832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Training Evidence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89120" y="33832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23.7 KB model, 0 tuning iterations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31520" y="38404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31520" y="3840480"/>
            <a:ext cx="45720" cy="420624"/>
          </a:xfrm>
          <a:prstGeom prst="rect">
            <a:avLst/>
          </a:prstGeom>
          <a:solidFill>
            <a:srgbClr val="FFB8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914400" y="38404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371600" y="38404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&amp; Workflow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0" y="38404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decisions, 11 learnings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31520" y="42976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731520" y="4297680"/>
            <a:ext cx="45720" cy="420624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914400" y="42976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78B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371600" y="42976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Metrics Dashboard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389120" y="42976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metrics visualized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31520" y="484759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backed by automated evidence, not assertions. Best-in-class SDLC demands best-in-class proof.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SHIFT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7680960" cy="502920"/>
          </a:xfrm>
          <a:prstGeom prst="rect">
            <a:avLst/>
          </a:prstGeom>
          <a:solidFill>
            <a:srgbClr val="1A22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9144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743200" y="9144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ASSISTANCE (yesterday)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0" y="9144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AUTONOMY (now)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7680960" cy="50292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codes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43200" y="14630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writes code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14630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builds the entire system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011680"/>
            <a:ext cx="7680960" cy="50292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20116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role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20116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Suggests completions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0" y="20116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development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50292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2560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metaphor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25603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fills in blanks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0" y="25603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agents prevent rot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108960"/>
            <a:ext cx="7680960" cy="50292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2296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driver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743200" y="3108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Depends on the coder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0" y="3108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Enforced by process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3657600"/>
            <a:ext cx="7680960" cy="50292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22960" y="3657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43200" y="3657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Degrades over time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669280" y="3657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task gets clean context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31520" y="44805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Assistance scales linearly. Autonomy scales exponentially.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THIS ISN'T JUST AUTONOMOUS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IT'S BEST-IN-CLASS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389+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709928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709928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189+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709928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45536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145536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15/15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145536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 catches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81144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81144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23.7 KB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81144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16752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016752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10,497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016752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of code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452360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452360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452360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hand-written lines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371600" y="3566160"/>
            <a:ext cx="6400800" cy="502920"/>
          </a:xfrm>
          <a:prstGeom prst="roundRect">
            <a:avLst>
              <a:gd name="adj" fmla="val 14545"/>
            </a:avLst>
          </a:prstGeom>
          <a:solidFill>
            <a:srgbClr val="0D1B2A"/>
          </a:solidFill>
          <a:ln w="1905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554480" y="3611880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IT NOW  →  </a:t>
            </a:r>
            <a:r>
              <a:rPr lang="en-US" sz="1300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https://top-down-racer-02.vercel.app/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1520" y="43738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7-document evidence package. Every claim verified. The SDLC is the product.</a:t>
            </a:r>
          </a:p>
          <a:p>
            <a:pPr marL="0" indent="0" algn="ctr">
              <a:buNone/>
            </a:pPr>
            <a:endParaRPr lang="en-US" sz="1200" i="1" dirty="0">
              <a:solidFill>
                <a:srgbClr val="8899A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en-US" sz="1200" i="1" dirty="0">
                <a:solidFill>
                  <a:srgbClr val="8899AA"/>
                </a:solidFill>
                <a:latin typeface="Arial" pitchFamily="34" charset="0"/>
                <a:cs typeface="Arial" pitchFamily="34" charset="-120"/>
              </a:rPr>
              <a:t>This isn't proof of concept. It's a proof of production.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661</Words>
  <Application>Microsoft Office PowerPoint</Application>
  <PresentationFormat>On-screen Show (16:9)</PresentationFormat>
  <Paragraphs>169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Arial Black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Best-in-Class AI SDLC — Top-Down Racer v02 Evidence Package</dc:title>
  <dc:subject>PptxGenJS Presentation</dc:subject>
  <dc:creator>Briggsy</dc:creator>
  <cp:lastModifiedBy>Briggs, Michael</cp:lastModifiedBy>
  <cp:revision>2</cp:revision>
  <dcterms:created xsi:type="dcterms:W3CDTF">2026-03-04T14:04:54Z</dcterms:created>
  <dcterms:modified xsi:type="dcterms:W3CDTF">2026-03-04T14:33:54Z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8c63503-0fb3-4712-a32e-7ecb4b7d79e8_Enabled">
    <vt:lpwstr>true</vt:lpwstr>
  </property>
  <property fmtid="{D5CDD505-2E9C-101B-9397-08002B2CF9AE}" pid="3" name="MSIP_Label_88c63503-0fb3-4712-a32e-7ecb4b7d79e8_SetDate">
    <vt:lpwstr>2026-03-04T14:33:52Z</vt:lpwstr>
  </property>
  <property fmtid="{D5CDD505-2E9C-101B-9397-08002B2CF9AE}" pid="4" name="MSIP_Label_88c63503-0fb3-4712-a32e-7ecb4b7d79e8_Method">
    <vt:lpwstr>Standard</vt:lpwstr>
  </property>
  <property fmtid="{D5CDD505-2E9C-101B-9397-08002B2CF9AE}" pid="5" name="MSIP_Label_88c63503-0fb3-4712-a32e-7ecb4b7d79e8_Name">
    <vt:lpwstr>88c63503-0fb3-4712-a32e-7ecb4b7d79e8</vt:lpwstr>
  </property>
  <property fmtid="{D5CDD505-2E9C-101B-9397-08002B2CF9AE}" pid="6" name="MSIP_Label_88c63503-0fb3-4712-a32e-7ecb4b7d79e8_SiteId">
    <vt:lpwstr>d9da684f-2c03-432a-a7b6-ed714ffc7683</vt:lpwstr>
  </property>
  <property fmtid="{D5CDD505-2E9C-101B-9397-08002B2CF9AE}" pid="7" name="MSIP_Label_88c63503-0fb3-4712-a32e-7ecb4b7d79e8_ActionId">
    <vt:lpwstr>c55e0846-396f-489a-b88a-7963333d2612</vt:lpwstr>
  </property>
  <property fmtid="{D5CDD505-2E9C-101B-9397-08002B2CF9AE}" pid="8" name="MSIP_Label_88c63503-0fb3-4712-a32e-7ecb4b7d79e8_ContentBits">
    <vt:lpwstr>2</vt:lpwstr>
  </property>
  <property fmtid="{D5CDD505-2E9C-101B-9397-08002B2CF9AE}" pid="9" name="MSIP_Label_88c63503-0fb3-4712-a32e-7ecb4b7d79e8_Tag">
    <vt:lpwstr>10, 3, 0, 1</vt:lpwstr>
  </property>
  <property fmtid="{D5CDD505-2E9C-101B-9397-08002B2CF9AE}" pid="10" name="ClassificationContentMarkingFooterLocations">
    <vt:lpwstr>Office Theme:3</vt:lpwstr>
  </property>
  <property fmtid="{D5CDD505-2E9C-101B-9397-08002B2CF9AE}" pid="11" name="ClassificationContentMarkingFooterText">
    <vt:lpwstr>Internal</vt:lpwstr>
  </property>
</Properties>
</file>