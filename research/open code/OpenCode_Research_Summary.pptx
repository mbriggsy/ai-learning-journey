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11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A5E9"/>
                </a:solidFill>
              </a:rPr>
              <a:t>RESEARCH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0EA5E9"/>
                </a:solidFill>
              </a:rPr>
              <a:t>DEEP DIVE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20040" y="28346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8C4DC"/>
                </a:solidFill>
              </a:rPr>
              <a:t>The open-source AI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8C4DC"/>
                </a:solidFill>
              </a:rPr>
              <a:t>coding agent taking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8C4DC"/>
                </a:solidFill>
              </a:rPr>
              <a:t>on Claude Code.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8BAD"/>
                </a:solidFill>
              </a:rPr>
              <a:t>March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59436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0" y="59436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822960"/>
            <a:ext cx="23774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685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EA5E9"/>
                </a:solidFill>
              </a:rPr>
              <a:t>★  GITHUB STARS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77640" y="116128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112K+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97764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GitHub Stars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46520" y="59436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59436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822960"/>
            <a:ext cx="2377440" cy="2286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685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7C3AED"/>
                </a:solidFill>
              </a:rPr>
              <a:t>👥  MONTHLY ACTIVE DEVS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83680" y="116128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58368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Monthly Active Devs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0" y="26974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0" y="269748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2926080"/>
            <a:ext cx="23774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EA5E9"/>
                </a:solidFill>
              </a:rPr>
              <a:t>⚡  AI MODEL PROVIDERS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977640" y="326440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397764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AI Model Providers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46520" y="26974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46520" y="269748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2926080"/>
            <a:ext cx="237744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6A34A"/>
                </a:solidFill>
              </a:rPr>
              <a:t>🔓  OPEN SOURCE LICENSE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83680" y="326440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658368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Open Source License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OpenCode?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50292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</a:rPr>
              <a:t>The Open-Source Coding Agent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75569"/>
                </a:solidFill>
              </a:rPr>
              <a:t>OpenCode is a terminal-first, open-source AI coding agent built by Anomaly Innovations (formerly SST). It rapidly became the community's answer to Claude Code — and by early 2026 had overtaken it in GitHub stars.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52374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75569"/>
                </a:solidFill>
              </a:rPr>
              <a:t>Unlike proprietary tools, OpenCode acts as a universal adapter: it standardizes how prompts are sent to LLMs and how tools are used — but you choose the model.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2186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Available as: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511296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Terminal UI (TUI) — powered by Bubble Tea (Go)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Standalone Desktop App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VS Code / Cursor / IDE Extension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Any ACP-compatible editor (JetBrains, Neovim, Zed, Emacs)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143000"/>
            <a:ext cx="324612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1143000"/>
            <a:ext cx="64008" cy="603504"/>
          </a:xfrm>
          <a:prstGeom prst="roundRect">
            <a:avLst>
              <a:gd name="adj" fmla="val 5714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112,837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806440" y="1453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GitHub Stars (Feb 2026)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856232"/>
            <a:ext cx="324612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1856232"/>
            <a:ext cx="64008" cy="603504"/>
          </a:xfrm>
          <a:prstGeom prst="roundRect">
            <a:avLst>
              <a:gd name="adj" fmla="val 5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9019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779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806440" y="21671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Contributors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2569464"/>
            <a:ext cx="324612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2569464"/>
            <a:ext cx="64008" cy="603504"/>
          </a:xfrm>
          <a:prstGeom prst="roundRect">
            <a:avLst>
              <a:gd name="adj" fmla="val 5714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6151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9,000+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806440" y="288036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Total Commits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3282696"/>
            <a:ext cx="324612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3282696"/>
            <a:ext cx="64008" cy="603504"/>
          </a:xfrm>
          <a:prstGeom prst="roundRect">
            <a:avLst>
              <a:gd name="adj" fmla="val 5714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328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2.5M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806440" y="35935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Monthly Active Developers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3995928"/>
            <a:ext cx="324612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995928"/>
            <a:ext cx="64008" cy="603504"/>
          </a:xfrm>
          <a:prstGeom prst="roundRect">
            <a:avLst>
              <a:gd name="adj" fmla="val 5714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4041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80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806440" y="430682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Releases — Jan + Feb 2026 alone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</a:rPr>
              <a:t>UNDER THE HOOD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A5E9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Client/Server 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Remote-capable sessions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The TUI is just one frontend. Run the server on your machine and drive it from mobile or a remote client. Enables the upcoming Workspaces feature — persistent context even when you close your laptop.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170432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3258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25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C3AED"/>
                </a:solidFill>
              </a:rPr>
              <a:t>FLEXIBILITY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83480" y="16459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Model-Agnostic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9385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75+ providers supported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1488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Supports Claude, GPT-4, Gemini, Groq, AWS Bedrock, Azure, OpenRouter, and local models via Ollama. Route tasks to cheaper models or run fully offline in air-gapped mode.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2644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64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6A34A"/>
                </a:solidFill>
              </a:rPr>
              <a:t>PERFORMANCE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5844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LSP Integration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8770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~900× faster navigation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873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Auto-loads the right Language Server Protocol server for your codebase. Delivers ~50ms code navigation vs. ~45 seconds for text search on large repositories.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10896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83480" y="32644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264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A5E9"/>
                </a:solidFill>
              </a:rPr>
              <a:t>AI AGENTS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83480" y="35844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Built-In Agents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8770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Build + Plan modes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40873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Build (full access) and Plan (read-only) modes switchable via Tab. Custom agents defined in markdown files with YAML frontmatter. Subagents: General (multi-step) and Fast (read-only exploration).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773168"/>
            <a:ext cx="1371600" cy="246888"/>
          </a:xfrm>
          <a:prstGeom prst="roundRect">
            <a:avLst>
              <a:gd name="adj" fmla="val 4814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77316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SQLite Sessions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755648" y="4773168"/>
            <a:ext cx="1371600" cy="246888"/>
          </a:xfrm>
          <a:prstGeom prst="roundRect">
            <a:avLst>
              <a:gd name="adj" fmla="val 4814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55648" y="477316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Plan / Build Toggle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91256" y="4773168"/>
            <a:ext cx="1371600" cy="246888"/>
          </a:xfrm>
          <a:prstGeom prst="roundRect">
            <a:avLst>
              <a:gd name="adj" fmla="val 4814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91256" y="477316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Image Drag &amp; Drop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26864" y="4773168"/>
            <a:ext cx="1371600" cy="246888"/>
          </a:xfrm>
          <a:prstGeom prst="roundRect">
            <a:avLst>
              <a:gd name="adj" fmla="val 4814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477316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/undo Command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62472" y="4773168"/>
            <a:ext cx="1371600" cy="246888"/>
          </a:xfrm>
          <a:prstGeom prst="roundRect">
            <a:avLst>
              <a:gd name="adj" fmla="val 4814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62472" y="477316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MCP Support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98080" y="4773168"/>
            <a:ext cx="1371600" cy="246888"/>
          </a:xfrm>
          <a:prstGeom prst="roundRect">
            <a:avLst>
              <a:gd name="adj" fmla="val 4814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477316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Granular Permissions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</a:rPr>
              <a:t>HEAD-TO-HEAD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vs. Claude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8823960" cy="3246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9576"/>
            <a:ext cx="3291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Feature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77640" y="1179576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OpenCode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29400" y="1179576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Claude Code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784909"/>
            <a:ext cx="88239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4188"/>
            <a:ext cx="3291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Model Flexibility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77640" y="1504188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75+ providers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29400" y="1504188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Anthropic only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31336" y="1467612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83096" y="1467612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92224"/>
            <a:ext cx="8823960" cy="32461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109521"/>
            <a:ext cx="88239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828800"/>
            <a:ext cx="3291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Open Source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77640" y="1828800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✓  MIT Licensed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29400" y="1828800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 Closed source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31336" y="1792224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3096" y="1792224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434133"/>
            <a:ext cx="88239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53412"/>
            <a:ext cx="3291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Desktop App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77640" y="2153412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✓  Included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2153412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 CLI only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31336" y="2116836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3096" y="2116836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441448"/>
            <a:ext cx="8823960" cy="32461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758745"/>
            <a:ext cx="88239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478024"/>
            <a:ext cx="3291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Local / Offline Models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977640" y="2478024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✓  via Ollama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629400" y="2478024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 Not supported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31336" y="2441448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83096" y="2441448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083357"/>
            <a:ext cx="88239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802636"/>
            <a:ext cx="3291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Air-Gapped Mode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977640" y="2802636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✓  Full support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629400" y="2802636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 Not supported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31336" y="2766060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83096" y="2766060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3090672"/>
            <a:ext cx="8823960" cy="32461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407969"/>
            <a:ext cx="88239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127248"/>
            <a:ext cx="3291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Custom Agents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977640" y="3127248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✓  Markdown files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29400" y="3127248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Limited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831336" y="3090672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83096" y="3090672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3732581"/>
            <a:ext cx="88239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451860"/>
            <a:ext cx="3291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Context Compaction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977640" y="3451860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Manual / configurable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629400" y="3451860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✓  Automatic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831336" y="3415284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83096" y="3415284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3739896"/>
            <a:ext cx="8823960" cy="32461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4057193"/>
            <a:ext cx="88239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776472"/>
            <a:ext cx="3291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SWE-bench Accuracy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977640" y="3776472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Depends on model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629400" y="3776472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80.9%+ (proprietary)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831336" y="3739896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83096" y="3739896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0040" y="4381805"/>
            <a:ext cx="88239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101084"/>
            <a:ext cx="3291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Safety Guardrails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3977640" y="4101084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Configurable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629400" y="4101084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Built-in (fixed)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831336" y="4064508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83096" y="4064508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" y="4389120"/>
            <a:ext cx="8823960" cy="32461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" y="4706417"/>
            <a:ext cx="88239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425696"/>
            <a:ext cx="3291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GitHub Stars (Feb 2026)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977640" y="4425696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112K+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629400" y="4425696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71K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3831336" y="4389120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83096" y="4389120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4750308"/>
            <a:ext cx="3291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Pricing (base)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3977640" y="4750308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Free (BYOK)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629400" y="4750308"/>
            <a:ext cx="24231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$20–$200/mo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831336" y="4713732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83096" y="4713732"/>
            <a:ext cx="10973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0040" y="1143000"/>
            <a:ext cx="8823960" cy="3895344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</a:rPr>
              <a:t>JANUARY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Drama: When Things Got Political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07008"/>
            <a:ext cx="36576" cy="3611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98448"/>
            <a:ext cx="402336" cy="4023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170432"/>
            <a:ext cx="74066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170432"/>
            <a:ext cx="45720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27632" y="12618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12618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</a:rPr>
              <a:t>TRIGGER EVENT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71800" y="124358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Jan 9,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27632" y="1554480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Anthropic Silently Blocks OAuth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627632" y="1755648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Anthropic blocked third-party tools — including OpenCode — from using Claude via consumer OAuth tokens. OpenCode removed Claude Pro/Max support, citing "Anthropic legal requests."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25856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2130552"/>
            <a:ext cx="74066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" y="2130552"/>
            <a:ext cx="4572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27632" y="22219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27632" y="22219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</a:rPr>
              <a:t>COMMUNITY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71800" y="220370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Jan 9–10,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27632" y="2514600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Hacker News Erupts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627632" y="2715768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Developer backlash was immediate and fierce. The community interpreted the block as Anthropic protecting Claude Code subscription revenue. OpenCode stars surged from ~44K to ~48K in five days.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218688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7320" y="3090672"/>
            <a:ext cx="74066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3090672"/>
            <a:ext cx="45720" cy="8412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27632" y="318211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27632" y="31821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A5E9"/>
                </a:solidFill>
              </a:rPr>
              <a:t>RESPONSE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971800" y="316382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Late Jan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27632" y="3474720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OpenCode Launches Black &amp; Zen Gateways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627632" y="3675888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OpenCode responded with Black ($20/$100/$200/mo enterprise tiers) and Zen (pay-as-you-go curated models). OpenAI publicly welcomed third-party tools as counter-positioning.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178808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17320" y="4050792"/>
            <a:ext cx="74066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17320" y="4050792"/>
            <a:ext cx="45720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27632" y="414223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27632" y="41422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6A34A"/>
                </a:solidFill>
              </a:rPr>
              <a:t>CURRENT STATE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971800" y="412394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Today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27632" y="4434840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The New Reality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627632" y="4636008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Claude still works in OpenCode via direct API keys or Black/Zen gateways — but consumer subscriptions are gone. The community split along ideological lines: open ecosystem vs. vertically integrated.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</a:rPr>
              <a:t>EYES OPEN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Stability Considerations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50749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5074920" cy="54864"/>
          </a:xfrm>
          <a:prstGeom prst="roundRect">
            <a:avLst>
              <a:gd name="adj" fmla="val 20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507492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984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</a:rPr>
              <a:t>SECURITY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60934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CVE-2026-22812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95681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CVSS Score: 8.8 — High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231136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Previous versions started an HTTP server that allowed any website to execute arbitrary shell commands on the host machine — a full remote code execution vulnerability. Fixed in v1.1.10; the server is now disabled by default.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538728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✓  Always run v1.1.10 or later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170432"/>
            <a:ext cx="32918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1170432"/>
            <a:ext cx="3291840" cy="54864"/>
          </a:xfrm>
          <a:prstGeom prst="roundRect">
            <a:avLst>
              <a:gd name="adj" fmla="val 20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1188720"/>
            <a:ext cx="329184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42432" y="12984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12984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</a:rPr>
              <a:t>STABILITY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742432" y="1609344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Stability Note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742432" y="1993392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80 releases in Jan+Feb 2026 — moving extremely fast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Maintainers acknowledged Feb 2026 turbulence in a GitHub issue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Moving fast has trade-offs: occasional production bugs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Open source = more eyeballs AND more attack surface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931920"/>
            <a:ext cx="8549640" cy="96012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931920"/>
            <a:ext cx="4572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9867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The Trade-Off in Plain English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426110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Open source means you can audit every line of code — but it also means security holes become public before fixes do. For production use in sensitive environments, run current versions religiously and consider OpenCode's air-gapped mode with local Ollama models to eliminate cloud attack surface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</a:rPr>
              <a:t>WHAT IT ACTUALLY COSTS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Breakdown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1627632" cy="3703320"/>
          </a:xfrm>
          <a:prstGeom prst="roundRect">
            <a:avLst>
              <a:gd name="adj" fmla="val 6742"/>
            </a:avLst>
          </a:prstGeom>
          <a:solidFill>
            <a:srgbClr val="F0FD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005840"/>
            <a:ext cx="1371600" cy="210312"/>
          </a:xfrm>
          <a:prstGeom prst="roundRect">
            <a:avLst>
              <a:gd name="adj" fmla="val 4782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05840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BEST FOR COST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02336" y="1298448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298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A34A"/>
                </a:solidFill>
              </a:rPr>
              <a:t>FREE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4048" y="157276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OpenCode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(Base)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$0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27249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MIT Licensed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" y="2980944"/>
            <a:ext cx="1225296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054096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Bring your own API keys. Full feature set. Route tasks to any model — cheapest wins.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39112" y="1170432"/>
            <a:ext cx="1627632" cy="370332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67128" y="1298448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67128" y="1298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EA5E9"/>
                </a:solidFill>
              </a:rPr>
              <a:t>FLEXIBLE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48840" y="157276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OpenCode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Zen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30552" y="213969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Pay-as-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you-go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130552" y="27249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Curated gateway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40280" y="2980944"/>
            <a:ext cx="1225296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3054096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Pre-benchmarked models optimized for coding agents. Pass-through pricing, no monthly lock-in.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03904" y="1170432"/>
            <a:ext cx="1627632" cy="370332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31920" y="1298448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1298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7C3AED"/>
                </a:solidFill>
              </a:rPr>
              <a:t>ENTERPRISE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913632" y="157276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OpenCode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Black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95344" y="213969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$20–$200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/mo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95344" y="27249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Enterprise tiers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05072" y="2980944"/>
            <a:ext cx="1225296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13632" y="3054096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Enterprise API gateway. Team-level access management. Best for orgs post-OAuth block.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68696" y="1170432"/>
            <a:ext cx="1627632" cy="370332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96712" y="1298448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96712" y="1298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475569"/>
                </a:solidFill>
              </a:rPr>
              <a:t>PROPRIETARY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678424" y="157276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Claude 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0136" y="213969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$20/mo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660136" y="27249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Anthropic only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69864" y="2980944"/>
            <a:ext cx="1225296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78424" y="3054096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Fixed subscription, Anthropic-only models. Auto context compaction. Most polished UX.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33488" y="1170432"/>
            <a:ext cx="1627632" cy="370332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61504" y="1298448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61504" y="1298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475569"/>
                </a:solidFill>
              </a:rPr>
              <a:t>PROPRIETARY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443216" y="157276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Claude 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Max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424928" y="213969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$100–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$200/mo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424928" y="27249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Heavy use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34656" y="2980944"/>
            <a:ext cx="1225296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43216" y="3054096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Higher limits, round-robin model selection. Still Anthropic-only ecosystem.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💡  Running DeepSeek V3 via BYOK costs roughly $5–15/month for moderate use. Local models via Ollama = $0 in API costs.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</a:rPr>
              <a:t>DECISION GUIDE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Use What?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206240" cy="3703320"/>
          </a:xfrm>
          <a:prstGeom prst="roundRect">
            <a:avLst>
              <a:gd name="adj" fmla="val 2963"/>
            </a:avLst>
          </a:prstGeom>
          <a:solidFill>
            <a:srgbClr val="F0FD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206240" cy="54864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20624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984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A5E9"/>
                </a:solidFill>
              </a:rPr>
              <a:t>OPEN SOURCE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6093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</a:rPr>
              <a:t>Choose OpenCode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You want model flexibility — no vendor lock-in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Privacy-first environment (healthcare, fintech, defense)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You live in the terminal — Neovim, tmux, etc.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You want to minimize costs by routing to cheaper models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You need local / offline operation via Ollama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You value open-source auditability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You want a desktop app + broad IDE support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You're comfortable with occasional rough edges for more power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42062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70432"/>
            <a:ext cx="4206240" cy="54864"/>
          </a:xfrm>
          <a:prstGeom prst="roundRect">
            <a:avLst>
              <a:gd name="adj" fmla="val 200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188720"/>
            <a:ext cx="42062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2984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2984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75569"/>
                </a:solidFill>
              </a:rPr>
              <a:t>PROPRIETARY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92040" y="16093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</a:rPr>
              <a:t>Choose Claude Code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92040" y="199339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You want the most polished, just-works experience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You need proven SWE-bench accuracy (80.9%+)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You're committed to the Anthropic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Automatic context compaction matters for long sessions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Stability is more valuable than flexibility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You need Anthropic's built-in safety handling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You prefer vertical integration over customization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EA5E9"/>
                </a:solidFill>
              </a:rPr>
              <a:t>BOTTOM LINE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is not hype.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345643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3619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</a:rPr>
              <a:t>It's a legitimately powerful, production-ready alternative with one of the most active open-source communities in developer tooling. The January 2026 OAuth block paradoxically made OpenCode stronger — stars doubled, and OpenCode launched its own model gateways to reduce Anthropic dependence.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414016"/>
            <a:ext cx="54864" cy="3657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59152"/>
            <a:ext cx="1417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Open vs. Closed: 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48840" y="2359152"/>
            <a:ext cx="6492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OpenCode wins on flexibility, cost, and auditability. Claude Code wins on polish and integrated performance.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999232"/>
            <a:ext cx="54864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44368"/>
            <a:ext cx="1417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Political: 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48840" y="2944368"/>
            <a:ext cx="6492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The choice is increasingly philosophical — open ecosystem vs. vertically integrated. Both sides have merit.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54864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29584"/>
            <a:ext cx="1417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Not Either/Or: 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48840" y="3529584"/>
            <a:ext cx="6492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Many devs run both: Claude Code for complex refactors, OpenCode for daily cost-optimized use.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169664"/>
            <a:ext cx="54864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14800"/>
            <a:ext cx="1417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Velocity: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48840" y="4114800"/>
            <a:ext cx="6492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OpenCode shipped 80 releases in 2 months. The gap with Claude Code is closing fast.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8BAD"/>
                </a:solidFill>
              </a:rPr>
              <a:t>opencode.ai  •  github.com/anomalyco/opencode  •  March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Research Deep Dive</dc:title>
  <dc:subject>PptxGenJS Presentation</dc:subject>
  <dc:creator>PptxGenJS</dc:creator>
  <cp:lastModifiedBy>PptxGenJS</cp:lastModifiedBy>
  <cp:revision>1</cp:revision>
  <dcterms:created xsi:type="dcterms:W3CDTF">2026-03-04T19:57:03Z</dcterms:created>
  <dcterms:modified xsi:type="dcterms:W3CDTF">2026-03-04T19:57:03Z</dcterms:modified>
</cp:coreProperties>
</file>