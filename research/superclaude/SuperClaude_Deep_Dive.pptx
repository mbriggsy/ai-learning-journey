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731520"/>
            <a:ext cx="3840480" cy="3840480"/>
          </a:xfrm>
          <a:prstGeom prst="ellipse">
            <a:avLst/>
          </a:prstGeom>
          <a:solidFill>
            <a:srgbClr val="2A1A35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SuperClaude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Claude Code into a Specialist Team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Personas  •  30 Commands  •  7 Behavioral Modes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•  February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84FC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SuperClaude?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 framework — not software. Markdown files that reshape how Claude thinks.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377440" cy="201168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377440" cy="201168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47472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377440" cy="201168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7680960" cy="868680"/>
          </a:xfrm>
          <a:prstGeom prst="rect">
            <a:avLst/>
          </a:prstGeom>
          <a:solidFill>
            <a:srgbClr val="2A1A35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977640"/>
            <a:ext cx="64008" cy="86868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023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SuperClaude is a collection of .md instruction files that Claude Code reads to adopt specialized behaviors. No running processes, no execution layers — just extremely well-crafted context injection.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Personas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auto-activates the right specialist based on your request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417320"/>
            <a:ext cx="2377440" cy="123444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37160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vulnerabilities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474720" y="1417320"/>
            <a:ext cx="2377440" cy="123444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60020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148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11480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migrations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17920" y="1417320"/>
            <a:ext cx="2377440" cy="123444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0020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580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85800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UI, dashboards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31520" y="2834640"/>
            <a:ext cx="2377440" cy="123444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17520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Engineer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3716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leaks, optimization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474720" y="2834640"/>
            <a:ext cx="2377440" cy="123444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017520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1480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Specialist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41148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databases, servers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217920" y="2834640"/>
            <a:ext cx="2377440" cy="123444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017520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85800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6858000" y="3337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coverage, e2e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2A1A35"/>
          </a:solidFill>
          <a:ln/>
        </p:spPr>
      </p:sp>
      <p:sp>
        <p:nvSpPr>
          <p:cNvPr id="31" name="Text 22"/>
          <p:cNvSpPr/>
          <p:nvPr/>
        </p:nvSpPr>
        <p:spPr>
          <a:xfrm>
            <a:off x="100584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/sc:implement "JWT auth"  →  Security Engineer activates automatically  →  Domain-specific output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Commands Across the Full SDLC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1920240" cy="310896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94360" y="182880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/sc:brainstorm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237744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/sc:business-panel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" y="292608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/sc:design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" y="347472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/sc:workflow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06040" y="1097280"/>
            <a:ext cx="1920240" cy="310896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Text 15"/>
          <p:cNvSpPr/>
          <p:nvPr/>
        </p:nvSpPr>
        <p:spPr>
          <a:xfrm>
            <a:off x="278892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743200" y="182880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20" name="Text 17"/>
          <p:cNvSpPr/>
          <p:nvPr/>
        </p:nvSpPr>
        <p:spPr>
          <a:xfrm>
            <a:off x="283464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/sc:implement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0" y="237744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22" name="Text 19"/>
          <p:cNvSpPr/>
          <p:nvPr/>
        </p:nvSpPr>
        <p:spPr>
          <a:xfrm>
            <a:off x="2834640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/sc:spawn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0" y="292608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24" name="Text 21"/>
          <p:cNvSpPr/>
          <p:nvPr/>
        </p:nvSpPr>
        <p:spPr>
          <a:xfrm>
            <a:off x="283464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/sc:task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0" y="347472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26" name="Text 23"/>
          <p:cNvSpPr/>
          <p:nvPr/>
        </p:nvSpPr>
        <p:spPr>
          <a:xfrm>
            <a:off x="283464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/sc:build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1097280"/>
            <a:ext cx="1920240" cy="310896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4892040" y="182880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31" name="Text 28"/>
          <p:cNvSpPr/>
          <p:nvPr/>
        </p:nvSpPr>
        <p:spPr>
          <a:xfrm>
            <a:off x="498348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/sc:analyze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892040" y="237744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33" name="Text 30"/>
          <p:cNvSpPr/>
          <p:nvPr/>
        </p:nvSpPr>
        <p:spPr>
          <a:xfrm>
            <a:off x="4983480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/sc:audit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92040" y="292608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35" name="Text 32"/>
          <p:cNvSpPr/>
          <p:nvPr/>
        </p:nvSpPr>
        <p:spPr>
          <a:xfrm>
            <a:off x="498348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/sc:review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92040" y="347472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37" name="Text 34"/>
          <p:cNvSpPr/>
          <p:nvPr/>
        </p:nvSpPr>
        <p:spPr>
          <a:xfrm>
            <a:off x="498348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/sc:test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903720" y="1097280"/>
            <a:ext cx="1920240" cy="310896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0" name="Text 37"/>
          <p:cNvSpPr/>
          <p:nvPr/>
        </p:nvSpPr>
        <p:spPr>
          <a:xfrm>
            <a:off x="708660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7040880" y="182880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42" name="Text 39"/>
          <p:cNvSpPr/>
          <p:nvPr/>
        </p:nvSpPr>
        <p:spPr>
          <a:xfrm>
            <a:off x="7132320" y="1828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/sc:research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040880" y="237744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44" name="Text 41"/>
          <p:cNvSpPr/>
          <p:nvPr/>
        </p:nvSpPr>
        <p:spPr>
          <a:xfrm>
            <a:off x="7132320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/sc:index-repo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040880" y="292608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46" name="Text 43"/>
          <p:cNvSpPr/>
          <p:nvPr/>
        </p:nvSpPr>
        <p:spPr>
          <a:xfrm>
            <a:off x="713232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/sc:spec-panel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7040880" y="3474720"/>
            <a:ext cx="1645920" cy="411480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48" name="Text 45"/>
          <p:cNvSpPr/>
          <p:nvPr/>
        </p:nvSpPr>
        <p:spPr>
          <a:xfrm>
            <a:off x="7132320" y="3474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/sc:help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accepts persona flags:  /sc:build --react --tdd --persona-architect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Evidence-Based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must prove it — no hallucinations, no guessing, no deprecated patterns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931920" cy="502920"/>
          </a:xfrm>
          <a:prstGeom prst="rect">
            <a:avLst/>
          </a:prstGeom>
          <a:solidFill>
            <a:srgbClr val="2A1A3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 claims with official documentation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931920" cy="502920"/>
          </a:xfrm>
          <a:prstGeom prst="rect">
            <a:avLst/>
          </a:prstGeom>
          <a:solidFill>
            <a:srgbClr val="2A1A3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03120"/>
            <a:ext cx="54864" cy="502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03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APIs before suggesting them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3931920" cy="502920"/>
          </a:xfrm>
          <a:prstGeom prst="rect">
            <a:avLst/>
          </a:prstGeom>
          <a:solidFill>
            <a:srgbClr val="2A1A35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4320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pushback on bad ideas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3931920" cy="502920"/>
          </a:xfrm>
          <a:prstGeom prst="rect">
            <a:avLst/>
          </a:prstGeom>
          <a:solidFill>
            <a:srgbClr val="2A1A35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383280"/>
            <a:ext cx="54864" cy="5029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383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model routing per task type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32588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57784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12080" y="1847088"/>
            <a:ext cx="164592" cy="16459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0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documentation lookup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212080" y="2221992"/>
            <a:ext cx="164592" cy="164592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0" y="21579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675120" y="2157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logical analysis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212080" y="2596896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0" y="2532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675120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for research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212080" y="2971800"/>
            <a:ext cx="164592" cy="16459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9" name="Text 26"/>
          <p:cNvSpPr/>
          <p:nvPr/>
        </p:nvSpPr>
        <p:spPr>
          <a:xfrm>
            <a:off x="5486400" y="2907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67512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generation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212080" y="3346704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0" y="3282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675120" y="3282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212080" y="3721608"/>
            <a:ext cx="164592" cy="16459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5" name="Text 32"/>
          <p:cNvSpPr/>
          <p:nvPr/>
        </p:nvSpPr>
        <p:spPr>
          <a:xfrm>
            <a:off x="548640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Serena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67512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symbol search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31520" y="4251960"/>
            <a:ext cx="7680960" cy="685800"/>
          </a:xfrm>
          <a:prstGeom prst="rect">
            <a:avLst/>
          </a:prstGeom>
          <a:solidFill>
            <a:srgbClr val="2A1A35"/>
          </a:solidFill>
          <a:ln/>
        </p:spPr>
      </p:sp>
      <p:sp>
        <p:nvSpPr>
          <p:cNvPr id="38" name="Text 35"/>
          <p:cNvSpPr/>
          <p:nvPr/>
        </p:nvSpPr>
        <p:spPr>
          <a:xfrm>
            <a:off x="100584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005840" y="4572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  •  Purity  •  SOLID  •  Let It Crash  —  /sc:implement --loop iterates until quality score ≥ 70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SuperClaude Compares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468880" cy="256032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246888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everything, manages lifecycle,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from scratch autonomously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468880" cy="256032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97280"/>
            <a:ext cx="2468880" cy="54864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Superpowers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Enforcer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test-first discipline,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code written before tests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468880" cy="2560320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468880" cy="54864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SuperClaude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Team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cognitive personas, evidence-based,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auto-routes to domain experts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7680960" cy="868680"/>
          </a:xfrm>
          <a:prstGeom prst="rect">
            <a:avLst/>
          </a:prstGeom>
          <a:solidFill>
            <a:srgbClr val="2A1A35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931920"/>
            <a:ext cx="64008" cy="86868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9776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are complementary, not competitive. GSD tells Claude what to build. SuperClaude makes Claude better at building it. Superpowers ensures the code is tested and bulletproof.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7680960" cy="713232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225296"/>
            <a:ext cx="457200" cy="45720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 required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89120" y="1234440"/>
            <a:ext cx="3749040" cy="438912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123444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pipx install superclaude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1965960"/>
            <a:ext cx="7680960" cy="713232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05840" y="2093976"/>
            <a:ext cx="457200" cy="45720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91640" y="2039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91640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30 slash commands into Claude Code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89120" y="2103120"/>
            <a:ext cx="3749040" cy="438912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0" y="21031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superclaude install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2834640"/>
            <a:ext cx="7680960" cy="713232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005840" y="2962656"/>
            <a:ext cx="457200" cy="45720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91640" y="2907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691640" y="3218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live docs and web search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389120" y="2971800"/>
            <a:ext cx="3749040" cy="438912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0" y="29718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superclaude mcp --servers tavily context7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1520" y="3703320"/>
            <a:ext cx="7680960" cy="713232"/>
          </a:xfrm>
          <a:prstGeom prst="rect">
            <a:avLst/>
          </a:prstGeom>
          <a:solidFill>
            <a:srgbClr val="2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5840" y="3831336"/>
            <a:ext cx="457200" cy="457200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91640" y="3776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691640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everything is working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389120" y="3840480"/>
            <a:ext cx="3749040" cy="438912"/>
          </a:xfrm>
          <a:prstGeom prst="rect">
            <a:avLst/>
          </a:prstGeom>
          <a:solidFill>
            <a:srgbClr val="1A1023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0" y="384048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superclaude doctor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84FC">
              <a:alpha val="3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SuperClaude — Framework Deep Dive</dc:title>
  <dc:subject>PptxGenJS Presentation</dc:subject>
  <dc:creator>Claude</dc:creator>
  <cp:lastModifiedBy>Claude</cp:lastModifiedBy>
  <cp:revision>1</cp:revision>
  <dcterms:created xsi:type="dcterms:W3CDTF">2026-02-23T23:36:02Z</dcterms:created>
  <dcterms:modified xsi:type="dcterms:W3CDTF">2026-02-23T23:36:02Z</dcterms:modified>
</cp:coreProperties>
</file>